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2"/>
  </p:notesMasterIdLst>
  <p:sldIdLst>
    <p:sldId id="256" r:id="rId2"/>
    <p:sldId id="261" r:id="rId3"/>
    <p:sldId id="267" r:id="rId4"/>
    <p:sldId id="262" r:id="rId5"/>
    <p:sldId id="263" r:id="rId6"/>
    <p:sldId id="291" r:id="rId7"/>
    <p:sldId id="292" r:id="rId8"/>
    <p:sldId id="293" r:id="rId9"/>
    <p:sldId id="258" r:id="rId10"/>
    <p:sldId id="294" r:id="rId11"/>
  </p:sldIdLst>
  <p:sldSz cx="9144000" cy="5143500" type="screen16x9"/>
  <p:notesSz cx="6858000" cy="9144000"/>
  <p:embeddedFontLst>
    <p:embeddedFont>
      <p:font typeface="Albert Sans" panose="020B0604020202020204" charset="0"/>
      <p:regular r:id="rId13"/>
      <p:bold r:id="rId14"/>
      <p:italic r:id="rId15"/>
      <p:boldItalic r:id="rId16"/>
    </p:embeddedFont>
    <p:embeddedFont>
      <p:font typeface="Nunito Light" pitchFamily="2" charset="0"/>
      <p:regular r:id="rId17"/>
      <p:italic r:id="rId18"/>
    </p:embeddedFont>
    <p:embeddedFont>
      <p:font typeface="Raleway" pitchFamily="2" charset="0"/>
      <p:regular r:id="rId19"/>
      <p:bold r:id="rId20"/>
      <p:italic r:id="rId21"/>
      <p:boldItalic r:id="rId22"/>
    </p:embeddedFont>
    <p:embeddedFont>
      <p:font typeface="Syne" panose="020B0604020202020204" charset="0"/>
      <p:regular r:id="rId23"/>
      <p:bold r:id="rId24"/>
    </p:embeddedFont>
    <p:embeddedFont>
      <p:font typeface="Syne Medium" panose="020B0604020202020204" charset="0"/>
      <p:regular r:id="rId25"/>
      <p:bold r:id="rId26"/>
    </p:embeddedFont>
    <p:embeddedFont>
      <p:font typeface="Syne SemiBold" panose="020B0604020202020204" charset="0"/>
      <p:regular r:id="rId27"/>
      <p:bold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A72174-A0E9-460C-A1EC-3A3E718BFBE9}">
  <a:tblStyle styleId="{8FA72174-A0E9-460C-A1EC-3A3E718BFBE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6D33874-344C-44AD-96BC-F881E93BD60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4c5a6c8ff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4c5a6c8ff6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75942334-00A4-C100-5457-6EBD4E8F6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4dda1946d_6_332:notes">
            <a:extLst>
              <a:ext uri="{FF2B5EF4-FFF2-40B4-BE49-F238E27FC236}">
                <a16:creationId xmlns:a16="http://schemas.microsoft.com/office/drawing/2014/main" id="{B1F52A7E-FAAD-AC8C-00FD-6BBAAC51DD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54dda1946d_6_332:notes">
            <a:extLst>
              <a:ext uri="{FF2B5EF4-FFF2-40B4-BE49-F238E27FC236}">
                <a16:creationId xmlns:a16="http://schemas.microsoft.com/office/drawing/2014/main" id="{1C59F2BE-C765-C973-F028-24EFEEC25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6990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47ab2cd00d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47ab2cd00d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 title="techstartup-osc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539500"/>
            <a:ext cx="7717500" cy="9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389400" y="3946400"/>
            <a:ext cx="3041400" cy="6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4" title="techstartup-osc1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techstartup-osc4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720000" y="3644300"/>
            <a:ext cx="2955300" cy="9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4592700" y="3268312"/>
            <a:ext cx="3838200" cy="12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4589325" y="1219088"/>
            <a:ext cx="3838200" cy="12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4589325" y="646388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4592700" y="2695612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7" title="techstartup-osc3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" name="Google Shape;32;p7"/>
          <p:cNvSpPr txBox="1">
            <a:spLocks noGrp="1"/>
          </p:cNvSpPr>
          <p:nvPr>
            <p:ph type="subTitle" idx="1"/>
          </p:nvPr>
        </p:nvSpPr>
        <p:spPr>
          <a:xfrm>
            <a:off x="4928800" y="1475100"/>
            <a:ext cx="3501900" cy="219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11975" y="539488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>
            <a:spLocks noGrp="1"/>
          </p:cNvSpPr>
          <p:nvPr>
            <p:ph type="pic" idx="2"/>
          </p:nvPr>
        </p:nvSpPr>
        <p:spPr>
          <a:xfrm>
            <a:off x="1" y="1476775"/>
            <a:ext cx="4294800" cy="3666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8" title="techstartup-osc.jpg"/>
          <p:cNvPicPr preferRelativeResize="0"/>
          <p:nvPr/>
        </p:nvPicPr>
        <p:blipFill rotWithShape="1">
          <a:blip r:embed="rId2">
            <a:alphaModFix/>
          </a:blip>
          <a:srcRect t="31125" r="31125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9" title="techstartup-osc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 title="techstartup-osc2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3686400" cy="62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000"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2" hasCustomPrompt="1"/>
          </p:nvPr>
        </p:nvSpPr>
        <p:spPr>
          <a:xfrm>
            <a:off x="4494552" y="19510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 idx="3" hasCustomPrompt="1"/>
          </p:nvPr>
        </p:nvSpPr>
        <p:spPr>
          <a:xfrm>
            <a:off x="4494552" y="33062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4" hasCustomPrompt="1"/>
          </p:nvPr>
        </p:nvSpPr>
        <p:spPr>
          <a:xfrm>
            <a:off x="4494552" y="26286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title" idx="5" hasCustomPrompt="1"/>
          </p:nvPr>
        </p:nvSpPr>
        <p:spPr>
          <a:xfrm>
            <a:off x="4494552" y="3983875"/>
            <a:ext cx="1013400" cy="620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b="0"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Syne Medium"/>
              <a:buNone/>
              <a:defRPr sz="2000" b="0">
                <a:solidFill>
                  <a:schemeClr val="dk2"/>
                </a:solidFill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5559775" y="19510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5559775" y="26286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7"/>
          </p:nvPr>
        </p:nvSpPr>
        <p:spPr>
          <a:xfrm>
            <a:off x="5559775" y="33062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8"/>
          </p:nvPr>
        </p:nvSpPr>
        <p:spPr>
          <a:xfrm>
            <a:off x="5559775" y="3983888"/>
            <a:ext cx="28710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solidFill>
                  <a:schemeClr val="dk1"/>
                </a:solidFill>
                <a:latin typeface="Syne Medium"/>
                <a:ea typeface="Syne Medium"/>
                <a:cs typeface="Syne Medium"/>
                <a:sym typeface="Syne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yne Medium"/>
              <a:buNone/>
              <a:defRPr sz="2000">
                <a:latin typeface="Syne Medium"/>
                <a:ea typeface="Syne Medium"/>
                <a:cs typeface="Syne Medium"/>
                <a:sym typeface="Syne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_1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title="techstartup-osc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762679" y="794675"/>
            <a:ext cx="76185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 sz="4000" b="0"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1"/>
          </p:nvPr>
        </p:nvSpPr>
        <p:spPr>
          <a:xfrm>
            <a:off x="3185049" y="2398525"/>
            <a:ext cx="5196300" cy="195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techstartup-osc5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719750" y="3509900"/>
            <a:ext cx="3286800" cy="109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subTitle" idx="2"/>
          </p:nvPr>
        </p:nvSpPr>
        <p:spPr>
          <a:xfrm>
            <a:off x="5137201" y="3499275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subTitle" idx="3"/>
          </p:nvPr>
        </p:nvSpPr>
        <p:spPr>
          <a:xfrm>
            <a:off x="5137201" y="1451925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subTitle" idx="4"/>
          </p:nvPr>
        </p:nvSpPr>
        <p:spPr>
          <a:xfrm>
            <a:off x="719750" y="2708600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5"/>
          </p:nvPr>
        </p:nvSpPr>
        <p:spPr>
          <a:xfrm>
            <a:off x="5137201" y="269797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6"/>
          </p:nvPr>
        </p:nvSpPr>
        <p:spPr>
          <a:xfrm>
            <a:off x="5137204" y="65062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60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7" title="techstartup-osc6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1_1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techstartup-osc4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22" title="techstartup-osc4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3" title="techstartup-osc1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yne"/>
              <a:buNone/>
              <a:defRPr sz="2600" b="1">
                <a:solidFill>
                  <a:schemeClr val="dk1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8" r:id="rId8"/>
    <p:sldLayoutId id="2147483659" r:id="rId9"/>
    <p:sldLayoutId id="2147483661" r:id="rId10"/>
    <p:sldLayoutId id="2147483662" r:id="rId11"/>
    <p:sldLayoutId id="2147483663" r:id="rId12"/>
    <p:sldLayoutId id="2147483664" r:id="rId13"/>
    <p:sldLayoutId id="2147483668" r:id="rId14"/>
    <p:sldLayoutId id="2147483669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silisk/itmo-handlebar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"/>
          <p:cNvSpPr txBox="1">
            <a:spLocks noGrp="1"/>
          </p:cNvSpPr>
          <p:nvPr>
            <p:ph type="subTitle" idx="1"/>
          </p:nvPr>
        </p:nvSpPr>
        <p:spPr>
          <a:xfrm>
            <a:off x="5389400" y="3469822"/>
            <a:ext cx="3041400" cy="11341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Екатерина Сергеева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Шалико Салимов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Вадим Якубенко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София Коваленко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28" name="Google Shape;128;p28"/>
          <p:cNvSpPr txBox="1">
            <a:spLocks noGrp="1"/>
          </p:cNvSpPr>
          <p:nvPr>
            <p:ph type="ctrTitle"/>
          </p:nvPr>
        </p:nvSpPr>
        <p:spPr>
          <a:xfrm>
            <a:off x="713225" y="539499"/>
            <a:ext cx="7717500" cy="16403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Песочница для шаблонизаторов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29" name="Google Shape;129;p28"/>
          <p:cNvSpPr txBox="1"/>
          <p:nvPr/>
        </p:nvSpPr>
        <p:spPr>
          <a:xfrm>
            <a:off x="306325" y="4604000"/>
            <a:ext cx="11244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Syne"/>
              <a:ea typeface="Syne"/>
              <a:cs typeface="Syne"/>
              <a:sym typeface="Syne"/>
            </a:endParaRPr>
          </a:p>
        </p:txBody>
      </p:sp>
      <p:cxnSp>
        <p:nvCxnSpPr>
          <p:cNvPr id="130" name="Google Shape;130;p28"/>
          <p:cNvCxnSpPr/>
          <p:nvPr/>
        </p:nvCxnSpPr>
        <p:spPr>
          <a:xfrm>
            <a:off x="1430700" y="4800200"/>
            <a:ext cx="8245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A2E2BE3-5081-26EB-5B85-4D7A61808CF4}"/>
              </a:ext>
            </a:extLst>
          </p:cNvPr>
          <p:cNvSpPr txBox="1"/>
          <p:nvPr/>
        </p:nvSpPr>
        <p:spPr>
          <a:xfrm>
            <a:off x="713225" y="2103865"/>
            <a:ext cx="48495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solidFill>
                  <a:schemeClr val="tx1"/>
                </a:solidFill>
                <a:hlinkClick r:id="rId3"/>
              </a:rPr>
              <a:t>https://github.com/ksilisk/itmo-handlebars</a:t>
            </a:r>
            <a:endParaRPr lang="en-US" u="sng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3"/>
          <p:cNvSpPr txBox="1">
            <a:spLocks noGrp="1"/>
          </p:cNvSpPr>
          <p:nvPr>
            <p:ph type="title"/>
          </p:nvPr>
        </p:nvSpPr>
        <p:spPr>
          <a:xfrm>
            <a:off x="762679" y="794675"/>
            <a:ext cx="76185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Задача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73" name="Google Shape;173;p33"/>
          <p:cNvSpPr txBox="1">
            <a:spLocks noGrp="1"/>
          </p:cNvSpPr>
          <p:nvPr>
            <p:ph type="body" idx="1"/>
          </p:nvPr>
        </p:nvSpPr>
        <p:spPr>
          <a:xfrm>
            <a:off x="3185049" y="2398525"/>
            <a:ext cx="5196300" cy="195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600" dirty="0">
                <a:latin typeface="Aptos" panose="020B0004020202020204" pitchFamily="34" charset="0"/>
              </a:rPr>
              <a:t>Рендеринг шаблонов через CLI</a:t>
            </a:r>
            <a:endParaRPr lang="en-US" sz="1600" dirty="0">
              <a:latin typeface="Aptos" panose="020B0004020202020204" pitchFamily="34" charset="0"/>
            </a:endParaRPr>
          </a:p>
          <a:p>
            <a:r>
              <a:rPr lang="ru-RU" sz="1600" dirty="0">
                <a:latin typeface="Aptos" panose="020B0004020202020204" pitchFamily="34" charset="0"/>
              </a:rPr>
              <a:t>Рендеринг через HTTP сервер </a:t>
            </a:r>
            <a:endParaRPr lang="en-US" sz="1600" dirty="0">
              <a:latin typeface="Aptos" panose="020B0004020202020204" pitchFamily="34" charset="0"/>
            </a:endParaRPr>
          </a:p>
          <a:p>
            <a:r>
              <a:rPr lang="ru-RU" sz="1600" dirty="0">
                <a:latin typeface="Aptos" panose="020B0004020202020204" pitchFamily="34" charset="0"/>
              </a:rPr>
              <a:t>Веб-песочница с React интерфейсом</a:t>
            </a:r>
          </a:p>
          <a:p>
            <a:r>
              <a:rPr lang="ru-RU" sz="1600" dirty="0">
                <a:latin typeface="Aptos" panose="020B0004020202020204" pitchFamily="34" charset="0"/>
              </a:rPr>
              <a:t>Поддержка нескольких шаблонизаторов</a:t>
            </a:r>
            <a:endParaRPr lang="en-US" sz="1600" dirty="0">
              <a:latin typeface="Aptos" panose="020B0004020202020204" pitchFamily="34" charset="0"/>
            </a:endParaRPr>
          </a:p>
          <a:p>
            <a:r>
              <a:rPr lang="ru-RU" sz="1600" dirty="0">
                <a:latin typeface="Aptos" panose="020B0004020202020204" pitchFamily="34" charset="0"/>
              </a:rPr>
              <a:t>Измерение времени выполнения рендеринга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0" dirty="0">
                <a:latin typeface="Aptos" panose="020B0004020202020204" pitchFamily="34" charset="0"/>
              </a:rPr>
              <a:t>Использованные технологии</a:t>
            </a:r>
            <a:endParaRPr b="0" dirty="0">
              <a:latin typeface="Aptos" panose="020B0004020202020204" pitchFamily="34" charset="0"/>
            </a:endParaRPr>
          </a:p>
        </p:txBody>
      </p:sp>
      <p:cxnSp>
        <p:nvCxnSpPr>
          <p:cNvPr id="234" name="Google Shape;234;p39"/>
          <p:cNvCxnSpPr>
            <a:stCxn id="235" idx="0"/>
          </p:cNvCxnSpPr>
          <p:nvPr/>
        </p:nvCxnSpPr>
        <p:spPr>
          <a:xfrm rot="10800000">
            <a:off x="1008800" y="1515937"/>
            <a:ext cx="0" cy="1164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9"/>
          <p:cNvCxnSpPr>
            <a:stCxn id="235" idx="3"/>
            <a:endCxn id="237" idx="1"/>
          </p:cNvCxnSpPr>
          <p:nvPr/>
        </p:nvCxnSpPr>
        <p:spPr>
          <a:xfrm>
            <a:off x="1115450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9" name="Google Shape;239;p39"/>
          <p:cNvSpPr/>
          <p:nvPr/>
        </p:nvSpPr>
        <p:spPr>
          <a:xfrm>
            <a:off x="6594805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39"/>
          <p:cNvSpPr/>
          <p:nvPr/>
        </p:nvSpPr>
        <p:spPr>
          <a:xfrm>
            <a:off x="5171660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39"/>
          <p:cNvSpPr/>
          <p:nvPr/>
        </p:nvSpPr>
        <p:spPr>
          <a:xfrm>
            <a:off x="2325370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9"/>
          <p:cNvSpPr/>
          <p:nvPr/>
        </p:nvSpPr>
        <p:spPr>
          <a:xfrm>
            <a:off x="902150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39"/>
          <p:cNvSpPr/>
          <p:nvPr/>
        </p:nvSpPr>
        <p:spPr>
          <a:xfrm>
            <a:off x="3748515" y="2679937"/>
            <a:ext cx="213300" cy="2133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39"/>
          <p:cNvSpPr txBox="1"/>
          <p:nvPr/>
        </p:nvSpPr>
        <p:spPr>
          <a:xfrm>
            <a:off x="1161200" y="1742537"/>
            <a:ext cx="14778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Node.js (</a:t>
            </a:r>
            <a:r>
              <a:rPr lang="ru-RU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чистый </a:t>
            </a:r>
            <a:r>
              <a:rPr lang="en-US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HTTP, </a:t>
            </a:r>
            <a:r>
              <a:rPr lang="ru-RU" b="0" i="0" dirty="0">
                <a:solidFill>
                  <a:srgbClr val="F9FAFB"/>
                </a:solidFill>
                <a:effectLst/>
                <a:latin typeface="Aptos" panose="020B0004020202020204" pitchFamily="34" charset="0"/>
              </a:rPr>
              <a:t>без фреймворков)</a:t>
            </a:r>
            <a:endParaRPr dirty="0">
              <a:solidFill>
                <a:schemeClr val="dk1"/>
              </a:solidFill>
              <a:latin typeface="Aptos" panose="020B0004020202020204" pitchFamily="34" charset="0"/>
              <a:ea typeface="Albert Sans"/>
              <a:cs typeface="Albert Sans"/>
              <a:sym typeface="Albert Sans"/>
            </a:endParaRPr>
          </a:p>
        </p:txBody>
      </p:sp>
      <p:sp>
        <p:nvSpPr>
          <p:cNvPr id="243" name="Google Shape;243;p39"/>
          <p:cNvSpPr txBox="1"/>
          <p:nvPr/>
        </p:nvSpPr>
        <p:spPr>
          <a:xfrm>
            <a:off x="1161199" y="1515995"/>
            <a:ext cx="1377470" cy="226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rPr>
              <a:t>Backend</a:t>
            </a:r>
            <a:endParaRPr sz="1600" dirty="0">
              <a:solidFill>
                <a:schemeClr val="dk1"/>
              </a:solidFill>
              <a:latin typeface="Syne SemiBold"/>
              <a:ea typeface="Syne SemiBold"/>
              <a:cs typeface="Syne SemiBold"/>
              <a:sym typeface="Syne SemiBold"/>
            </a:endParaRPr>
          </a:p>
        </p:txBody>
      </p:sp>
      <p:sp>
        <p:nvSpPr>
          <p:cNvPr id="244" name="Google Shape;244;p39"/>
          <p:cNvSpPr txBox="1"/>
          <p:nvPr/>
        </p:nvSpPr>
        <p:spPr>
          <a:xfrm>
            <a:off x="720000" y="3807237"/>
            <a:ext cx="1477800" cy="5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/>
            <a:r>
              <a:rPr lang="en-US" dirty="0">
                <a:solidFill>
                  <a:schemeClr val="tx1"/>
                </a:solidFill>
              </a:rPr>
              <a:t>React 18</a:t>
            </a:r>
            <a:endParaRPr dirty="0">
              <a:solidFill>
                <a:schemeClr val="tx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sp>
        <p:nvSpPr>
          <p:cNvPr id="245" name="Google Shape;245;p39"/>
          <p:cNvSpPr txBox="1"/>
          <p:nvPr/>
        </p:nvSpPr>
        <p:spPr>
          <a:xfrm>
            <a:off x="1025529" y="3580691"/>
            <a:ext cx="1166248" cy="249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r"/>
            <a:r>
              <a:rPr lang="en-US" sz="1600" dirty="0">
                <a:solidFill>
                  <a:schemeClr val="dk1"/>
                </a:solidFill>
                <a:latin typeface="Syne SemiBold"/>
              </a:rPr>
              <a:t>Frontend</a:t>
            </a:r>
            <a:endParaRPr sz="1600" dirty="0">
              <a:solidFill>
                <a:schemeClr val="dk1"/>
              </a:solidFill>
              <a:latin typeface="Syne SemiBold"/>
              <a:sym typeface="Syne SemiBold"/>
            </a:endParaRPr>
          </a:p>
        </p:txBody>
      </p:sp>
      <p:cxnSp>
        <p:nvCxnSpPr>
          <p:cNvPr id="246" name="Google Shape;246;p39"/>
          <p:cNvCxnSpPr>
            <a:stCxn id="237" idx="2"/>
          </p:cNvCxnSpPr>
          <p:nvPr/>
        </p:nvCxnSpPr>
        <p:spPr>
          <a:xfrm>
            <a:off x="2432020" y="2893237"/>
            <a:ext cx="0" cy="1419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39"/>
          <p:cNvSpPr txBox="1"/>
          <p:nvPr/>
        </p:nvSpPr>
        <p:spPr>
          <a:xfrm>
            <a:off x="4100248" y="1742537"/>
            <a:ext cx="1917337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solidFill>
                  <a:srgbClr val="F9FAFB"/>
                </a:solidFill>
                <a:latin typeface="Aptos" panose="020B0004020202020204" pitchFamily="34" charset="0"/>
              </a:rPr>
              <a:t>Handlebars, Pug, </a:t>
            </a:r>
            <a:r>
              <a:rPr lang="en-US" dirty="0" err="1">
                <a:solidFill>
                  <a:srgbClr val="F9FAFB"/>
                </a:solidFill>
                <a:latin typeface="Aptos" panose="020B0004020202020204" pitchFamily="34" charset="0"/>
              </a:rPr>
              <a:t>Nunjucks</a:t>
            </a:r>
            <a:r>
              <a:rPr lang="en-US" dirty="0">
                <a:solidFill>
                  <a:srgbClr val="F9FAFB"/>
                </a:solidFill>
                <a:latin typeface="Aptos" panose="020B0004020202020204" pitchFamily="34" charset="0"/>
              </a:rPr>
              <a:t>, Jinja2</a:t>
            </a:r>
            <a:endParaRPr dirty="0">
              <a:solidFill>
                <a:srgbClr val="F9FAFB"/>
              </a:solidFill>
              <a:latin typeface="Aptos" panose="020B0004020202020204" pitchFamily="34" charset="0"/>
              <a:sym typeface="Albert Sans"/>
            </a:endParaRPr>
          </a:p>
        </p:txBody>
      </p:sp>
      <p:sp>
        <p:nvSpPr>
          <p:cNvPr id="248" name="Google Shape;248;p39"/>
          <p:cNvSpPr txBox="1"/>
          <p:nvPr/>
        </p:nvSpPr>
        <p:spPr>
          <a:xfrm>
            <a:off x="4100256" y="1515995"/>
            <a:ext cx="1810681" cy="226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1600" dirty="0">
                <a:solidFill>
                  <a:schemeClr val="dk1"/>
                </a:solidFill>
              </a:rPr>
              <a:t>Шаблонизаторы</a:t>
            </a:r>
            <a:endParaRPr sz="1600" dirty="0">
              <a:solidFill>
                <a:schemeClr val="dk1"/>
              </a:solidFill>
              <a:latin typeface="Syne SemiBold"/>
              <a:sym typeface="Syne SemiBold"/>
            </a:endParaRPr>
          </a:p>
        </p:txBody>
      </p:sp>
      <p:cxnSp>
        <p:nvCxnSpPr>
          <p:cNvPr id="249" name="Google Shape;249;p39"/>
          <p:cNvCxnSpPr>
            <a:stCxn id="241" idx="0"/>
          </p:cNvCxnSpPr>
          <p:nvPr/>
        </p:nvCxnSpPr>
        <p:spPr>
          <a:xfrm rot="10800000">
            <a:off x="3855165" y="1515937"/>
            <a:ext cx="0" cy="1164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0" name="Google Shape;250;p39"/>
          <p:cNvSpPr txBox="1"/>
          <p:nvPr/>
        </p:nvSpPr>
        <p:spPr>
          <a:xfrm>
            <a:off x="3565951" y="3807237"/>
            <a:ext cx="1477800" cy="5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/>
            <a:r>
              <a:rPr lang="ru-RU" dirty="0">
                <a:solidFill>
                  <a:srgbClr val="F9FAFB"/>
                </a:solidFill>
                <a:latin typeface="Aptos" panose="020B0004020202020204" pitchFamily="34" charset="0"/>
              </a:rPr>
              <a:t>Нативный парсинг аргументов</a:t>
            </a:r>
            <a:endParaRPr lang="en-US" dirty="0">
              <a:solidFill>
                <a:srgbClr val="F9FAFB"/>
              </a:solidFill>
              <a:latin typeface="Aptos" panose="020B0004020202020204" pitchFamily="34" charset="0"/>
              <a:sym typeface="Albert Sans"/>
            </a:endParaRPr>
          </a:p>
        </p:txBody>
      </p:sp>
      <p:sp>
        <p:nvSpPr>
          <p:cNvPr id="251" name="Google Shape;251;p39"/>
          <p:cNvSpPr txBox="1"/>
          <p:nvPr/>
        </p:nvSpPr>
        <p:spPr>
          <a:xfrm>
            <a:off x="4028540" y="3580687"/>
            <a:ext cx="1015200" cy="2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r"/>
            <a:r>
              <a:rPr lang="en-US" sz="1600" dirty="0">
                <a:solidFill>
                  <a:schemeClr val="dk1"/>
                </a:solidFill>
                <a:latin typeface="Syne SemiBold"/>
              </a:rPr>
              <a:t>CLI</a:t>
            </a:r>
            <a:endParaRPr sz="1600" dirty="0">
              <a:solidFill>
                <a:schemeClr val="dk1"/>
              </a:solidFill>
              <a:latin typeface="Syne SemiBold"/>
              <a:sym typeface="Syne SemiBold"/>
            </a:endParaRPr>
          </a:p>
        </p:txBody>
      </p:sp>
      <p:cxnSp>
        <p:nvCxnSpPr>
          <p:cNvPr id="252" name="Google Shape;252;p39"/>
          <p:cNvCxnSpPr>
            <a:stCxn id="240" idx="2"/>
          </p:cNvCxnSpPr>
          <p:nvPr/>
        </p:nvCxnSpPr>
        <p:spPr>
          <a:xfrm>
            <a:off x="5278310" y="2893237"/>
            <a:ext cx="0" cy="14193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39"/>
          <p:cNvSpPr txBox="1"/>
          <p:nvPr/>
        </p:nvSpPr>
        <p:spPr>
          <a:xfrm>
            <a:off x="6946200" y="1742537"/>
            <a:ext cx="14778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F9FAFB"/>
                </a:solidFill>
                <a:latin typeface="Aptos" panose="020B0004020202020204" pitchFamily="34" charset="0"/>
                <a:sym typeface="Albert Sans"/>
              </a:rPr>
              <a:t>Тесты</a:t>
            </a:r>
            <a:endParaRPr dirty="0">
              <a:solidFill>
                <a:srgbClr val="F9FAFB"/>
              </a:solidFill>
              <a:latin typeface="Aptos" panose="020B0004020202020204" pitchFamily="34" charset="0"/>
              <a:sym typeface="Albert Sans"/>
            </a:endParaRPr>
          </a:p>
        </p:txBody>
      </p:sp>
      <p:sp>
        <p:nvSpPr>
          <p:cNvPr id="254" name="Google Shape;254;p39"/>
          <p:cNvSpPr txBox="1"/>
          <p:nvPr/>
        </p:nvSpPr>
        <p:spPr>
          <a:xfrm>
            <a:off x="6946199" y="1515995"/>
            <a:ext cx="1015200" cy="2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Syne SemiBold"/>
                <a:ea typeface="Syne SemiBold"/>
                <a:cs typeface="Syne SemiBold"/>
                <a:sym typeface="Syne SemiBold"/>
              </a:rPr>
              <a:t>Vitest</a:t>
            </a:r>
            <a:endParaRPr sz="1600" dirty="0">
              <a:solidFill>
                <a:schemeClr val="dk1"/>
              </a:solidFill>
              <a:latin typeface="Syne SemiBold"/>
              <a:ea typeface="Syne SemiBold"/>
              <a:cs typeface="Syne SemiBold"/>
              <a:sym typeface="Syne SemiBold"/>
            </a:endParaRPr>
          </a:p>
        </p:txBody>
      </p:sp>
      <p:cxnSp>
        <p:nvCxnSpPr>
          <p:cNvPr id="255" name="Google Shape;255;p39"/>
          <p:cNvCxnSpPr>
            <a:stCxn id="239" idx="0"/>
          </p:cNvCxnSpPr>
          <p:nvPr/>
        </p:nvCxnSpPr>
        <p:spPr>
          <a:xfrm rot="10800000">
            <a:off x="6701455" y="1515937"/>
            <a:ext cx="0" cy="11640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39"/>
          <p:cNvCxnSpPr>
            <a:stCxn id="237" idx="3"/>
            <a:endCxn id="241" idx="1"/>
          </p:cNvCxnSpPr>
          <p:nvPr/>
        </p:nvCxnSpPr>
        <p:spPr>
          <a:xfrm>
            <a:off x="2538670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0" name="Google Shape;260;p39"/>
          <p:cNvCxnSpPr>
            <a:stCxn id="241" idx="3"/>
            <a:endCxn id="240" idx="1"/>
          </p:cNvCxnSpPr>
          <p:nvPr/>
        </p:nvCxnSpPr>
        <p:spPr>
          <a:xfrm>
            <a:off x="3961815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39"/>
          <p:cNvCxnSpPr>
            <a:stCxn id="240" idx="3"/>
            <a:endCxn id="239" idx="1"/>
          </p:cNvCxnSpPr>
          <p:nvPr/>
        </p:nvCxnSpPr>
        <p:spPr>
          <a:xfrm>
            <a:off x="5384960" y="2786587"/>
            <a:ext cx="120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"/>
          <p:cNvSpPr txBox="1">
            <a:spLocks noGrp="1"/>
          </p:cNvSpPr>
          <p:nvPr>
            <p:ph type="subTitle" idx="2"/>
          </p:nvPr>
        </p:nvSpPr>
        <p:spPr>
          <a:xfrm>
            <a:off x="4400550" y="751114"/>
            <a:ext cx="4280068" cy="17375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bin/hbs-runner.js —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входная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точка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CLI</a:t>
            </a: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src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/renderer.js —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общая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логика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рендера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src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/server.js — HTTP-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сервер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и API /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api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/render</a:t>
            </a:r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public/index.html + public/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app.jsx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— React UI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песочницы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79" name="Google Shape;179;p34"/>
          <p:cNvSpPr txBox="1">
            <a:spLocks noGrp="1"/>
          </p:cNvSpPr>
          <p:nvPr>
            <p:ph type="subTitle" idx="4"/>
          </p:nvPr>
        </p:nvSpPr>
        <p:spPr>
          <a:xfrm>
            <a:off x="4483189" y="3644300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Комментарий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80" name="Google Shape;180;p34"/>
          <p:cNvSpPr txBox="1">
            <a:spLocks noGrp="1"/>
          </p:cNvSpPr>
          <p:nvPr>
            <p:ph type="title"/>
          </p:nvPr>
        </p:nvSpPr>
        <p:spPr>
          <a:xfrm>
            <a:off x="720000" y="3644300"/>
            <a:ext cx="2955300" cy="9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Архитектура решения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81" name="Google Shape;181;p34"/>
          <p:cNvSpPr txBox="1">
            <a:spLocks noGrp="1"/>
          </p:cNvSpPr>
          <p:nvPr>
            <p:ph type="subTitle" idx="1"/>
          </p:nvPr>
        </p:nvSpPr>
        <p:spPr>
          <a:xfrm>
            <a:off x="4486564" y="4078207"/>
            <a:ext cx="3838200" cy="6342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Логика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рендера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не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дублируется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: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единая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функция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используется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CLI,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веб-сервером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186736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>
                <a:latin typeface="Aptos" panose="020B0004020202020204" pitchFamily="34" charset="0"/>
              </a:rPr>
              <a:t>Пользовательские сценарии</a:t>
            </a:r>
            <a:endParaRPr dirty="0"/>
          </a:p>
        </p:txBody>
      </p:sp>
      <p:sp>
        <p:nvSpPr>
          <p:cNvPr id="188" name="Google Shape;188;p35"/>
          <p:cNvSpPr txBox="1">
            <a:spLocks noGrp="1"/>
          </p:cNvSpPr>
          <p:nvPr>
            <p:ph type="subTitle" idx="4"/>
          </p:nvPr>
        </p:nvSpPr>
        <p:spPr>
          <a:xfrm>
            <a:off x="5137201" y="259747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 algn="r"/>
            <a:r>
              <a:rPr lang="en-US" b="1" dirty="0"/>
              <a:t>CLI — </a:t>
            </a:r>
            <a:r>
              <a:rPr lang="ru-RU" b="1" dirty="0">
                <a:latin typeface="Aptos" panose="020B0004020202020204" pitchFamily="34" charset="0"/>
              </a:rPr>
              <a:t>пакетный рендеринг</a:t>
            </a:r>
          </a:p>
        </p:txBody>
      </p:sp>
      <p:sp>
        <p:nvSpPr>
          <p:cNvPr id="189" name="Google Shape;189;p35"/>
          <p:cNvSpPr txBox="1">
            <a:spLocks noGrp="1"/>
          </p:cNvSpPr>
          <p:nvPr>
            <p:ph type="subTitle" idx="5"/>
          </p:nvPr>
        </p:nvSpPr>
        <p:spPr>
          <a:xfrm>
            <a:off x="263122" y="2571750"/>
            <a:ext cx="314955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ru-RU" b="1" dirty="0">
                <a:latin typeface="Aptos" panose="020B0004020202020204" pitchFamily="34" charset="0"/>
              </a:rPr>
              <a:t>Единая модель ошибок</a:t>
            </a:r>
          </a:p>
        </p:txBody>
      </p:sp>
      <p:sp>
        <p:nvSpPr>
          <p:cNvPr id="190" name="Google Shape;190;p35"/>
          <p:cNvSpPr txBox="1">
            <a:spLocks noGrp="1"/>
          </p:cNvSpPr>
          <p:nvPr>
            <p:ph type="subTitle" idx="1"/>
          </p:nvPr>
        </p:nvSpPr>
        <p:spPr>
          <a:xfrm>
            <a:off x="5137201" y="3398775"/>
            <a:ext cx="3286800" cy="109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/>
            <a:r>
              <a:rPr lang="ru-RU" sz="1400" dirty="0">
                <a:latin typeface="Aptos" panose="020B0004020202020204" pitchFamily="34" charset="0"/>
              </a:rPr>
              <a:t>автоматизация, интеграция в CI/CD, обработка множества файлов</a:t>
            </a:r>
            <a:endParaRPr sz="1400" dirty="0">
              <a:latin typeface="Aptos" panose="020B0004020202020204" pitchFamily="34" charset="0"/>
            </a:endParaRPr>
          </a:p>
        </p:txBody>
      </p:sp>
      <p:sp>
        <p:nvSpPr>
          <p:cNvPr id="191" name="Google Shape;191;p35"/>
          <p:cNvSpPr txBox="1">
            <a:spLocks noGrp="1"/>
          </p:cNvSpPr>
          <p:nvPr>
            <p:ph type="subTitle" idx="2"/>
          </p:nvPr>
        </p:nvSpPr>
        <p:spPr>
          <a:xfrm>
            <a:off x="385586" y="3373050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sz="1400" dirty="0">
                <a:latin typeface="Aptos" panose="020B0004020202020204" pitchFamily="34" charset="0"/>
              </a:rPr>
              <a:t>Одинаковый подход к ошибкам в CLI и API: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Aptos" panose="020B0004020202020204" pitchFamily="34" charset="0"/>
              </a:rPr>
              <a:t>CLI → понятное сообщение + код выхода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dirty="0">
                <a:latin typeface="Aptos" panose="020B0004020202020204" pitchFamily="34" charset="0"/>
              </a:rPr>
              <a:t>API → JSON с полем error + HTTP статус 400/500</a:t>
            </a:r>
          </a:p>
          <a:p>
            <a:pPr marL="0" lvl="0" indent="0"/>
            <a:endParaRPr sz="1400" dirty="0">
              <a:latin typeface="Aptos" panose="020B0004020202020204" pitchFamily="34" charset="0"/>
            </a:endParaRPr>
          </a:p>
        </p:txBody>
      </p:sp>
      <p:sp>
        <p:nvSpPr>
          <p:cNvPr id="192" name="Google Shape;192;p35"/>
          <p:cNvSpPr txBox="1">
            <a:spLocks noGrp="1"/>
          </p:cNvSpPr>
          <p:nvPr>
            <p:ph type="subTitle" idx="3"/>
          </p:nvPr>
        </p:nvSpPr>
        <p:spPr>
          <a:xfrm>
            <a:off x="5137201" y="1451925"/>
            <a:ext cx="3286800" cy="9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r"/>
            <a:r>
              <a:rPr lang="ru-RU" sz="1400" dirty="0">
                <a:latin typeface="Aptos" panose="020B0004020202020204" pitchFamily="34" charset="0"/>
              </a:rPr>
              <a:t>ручное тестирование, эксперименты с синтаксисом, возможность быстрого рендера и копирования</a:t>
            </a:r>
            <a:endParaRPr sz="1400" dirty="0">
              <a:latin typeface="Aptos" panose="020B0004020202020204" pitchFamily="34" charset="0"/>
            </a:endParaRPr>
          </a:p>
        </p:txBody>
      </p:sp>
      <p:sp>
        <p:nvSpPr>
          <p:cNvPr id="193" name="Google Shape;193;p35"/>
          <p:cNvSpPr txBox="1">
            <a:spLocks noGrp="1"/>
          </p:cNvSpPr>
          <p:nvPr>
            <p:ph type="subTitle" idx="6"/>
          </p:nvPr>
        </p:nvSpPr>
        <p:spPr>
          <a:xfrm>
            <a:off x="5137204" y="650625"/>
            <a:ext cx="3286800" cy="80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r"/>
            <a:r>
              <a:rPr lang="ru-RU" b="1" dirty="0">
                <a:latin typeface="Aptos" panose="020B0004020202020204" pitchFamily="34" charset="0"/>
              </a:rPr>
              <a:t>Веб-интерфейс — интерактивная песочница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1E1FA-0A09-CD09-9881-6D449B7B9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ptos" panose="020B0004020202020204" pitchFamily="34" charset="0"/>
              </a:rPr>
              <a:t>Тестирование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71A68-F041-F963-CE23-6BB89E28F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975756"/>
            <a:ext cx="7704000" cy="2656395"/>
          </a:xfrm>
        </p:spPr>
        <p:txBody>
          <a:bodyPr/>
          <a:lstStyle/>
          <a:p>
            <a:pPr marL="228600" indent="-228600">
              <a:buSzPct val="100000"/>
              <a:buFont typeface="Wingdings" panose="05000000000000000000" pitchFamily="2" charset="2"/>
              <a:buChar char="ü"/>
            </a:pP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Покрыты</a:t>
            </a:r>
            <a:r>
              <a:rPr lang="ru-RU" sz="1800" dirty="0">
                <a:solidFill>
                  <a:schemeClr val="tx1"/>
                </a:solidFill>
                <a:latin typeface="Aptos" panose="020B0004020202020204" pitchFamily="34" charset="0"/>
              </a:rPr>
              <a:t>: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простой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,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вложенные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поля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, each,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ошибка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JSON и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запись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в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файл</a:t>
            </a:r>
            <a:endParaRPr lang="en-US" sz="18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Font typeface="Wingdings" panose="05000000000000000000" pitchFamily="2" charset="2"/>
              <a:buChar char="ü"/>
            </a:pP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npm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test: 5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тестов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из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5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успешны</a:t>
            </a:r>
            <a:endParaRPr lang="en-US" sz="18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Font typeface="Wingdings" panose="05000000000000000000" pitchFamily="2" charset="2"/>
              <a:buChar char="ü"/>
            </a:pP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Рендер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Aptos" panose="020B0004020202020204" pitchFamily="34" charset="0"/>
              </a:rPr>
              <a:t>выполняется</a:t>
            </a: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 с strict: true</a:t>
            </a:r>
          </a:p>
        </p:txBody>
      </p:sp>
    </p:spTree>
    <p:extLst>
      <p:ext uri="{BB962C8B-B14F-4D97-AF65-F5344CB8AC3E}">
        <p14:creationId xmlns:p14="http://schemas.microsoft.com/office/powerpoint/2010/main" val="3357116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5D2B6-A9A6-0629-BFE4-A7F960CF1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ptos" panose="020B0004020202020204" pitchFamily="34" charset="0"/>
              </a:rPr>
              <a:t>Методика работы с </a:t>
            </a:r>
            <a:r>
              <a:rPr lang="en-US" dirty="0"/>
              <a:t>CODEX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F0BCC1-8E5D-1941-7391-180DDBD4D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Требования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формулировались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итеративно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Сначала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реализованы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CLI-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контур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тесты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Затем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добавлены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сервер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и UI</a:t>
            </a: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Документация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синхронизирована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с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кодом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15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EB653F7E-3DB8-6D45-B660-0FAFCD1F4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">
            <a:extLst>
              <a:ext uri="{FF2B5EF4-FFF2-40B4-BE49-F238E27FC236}">
                <a16:creationId xmlns:a16="http://schemas.microsoft.com/office/drawing/2014/main" id="{DBA4E0F3-B2B0-EEAF-4F55-3A35E5E882CD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842418" y="751114"/>
            <a:ext cx="3838200" cy="17375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React-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фронтенд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использует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Babel в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браузере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(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учебный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режим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)</a:t>
            </a: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Возможна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миграция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на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Vite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для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production-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подхода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228600" indent="-228600">
              <a:buSzPct val="100000"/>
              <a:buChar char="•"/>
            </a:pP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Возможны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расширения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API: helpers, partials, e2e-тесты</a:t>
            </a:r>
          </a:p>
        </p:txBody>
      </p:sp>
      <p:sp>
        <p:nvSpPr>
          <p:cNvPr id="179" name="Google Shape;179;p34">
            <a:extLst>
              <a:ext uri="{FF2B5EF4-FFF2-40B4-BE49-F238E27FC236}">
                <a16:creationId xmlns:a16="http://schemas.microsoft.com/office/drawing/2014/main" id="{A01A57AB-81A0-DAC9-73D3-A3B9CBA217E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42418" y="3644300"/>
            <a:ext cx="38382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Комментарий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80" name="Google Shape;180;p34">
            <a:extLst>
              <a:ext uri="{FF2B5EF4-FFF2-40B4-BE49-F238E27FC236}">
                <a16:creationId xmlns:a16="http://schemas.microsoft.com/office/drawing/2014/main" id="{5711C9AF-C3E9-BF1A-924E-FFC205E857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3644300"/>
            <a:ext cx="2955300" cy="9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Ограничения и развитие</a:t>
            </a:r>
            <a:br>
              <a:rPr lang="ru-RU" dirty="0">
                <a:latin typeface="Aptos" panose="020B0004020202020204" pitchFamily="34" charset="0"/>
              </a:rPr>
            </a:br>
            <a:endParaRPr dirty="0">
              <a:latin typeface="Aptos" panose="020B0004020202020204" pitchFamily="34" charset="0"/>
            </a:endParaRPr>
          </a:p>
        </p:txBody>
      </p:sp>
      <p:sp>
        <p:nvSpPr>
          <p:cNvPr id="181" name="Google Shape;181;p34">
            <a:extLst>
              <a:ext uri="{FF2B5EF4-FFF2-40B4-BE49-F238E27FC236}">
                <a16:creationId xmlns:a16="http://schemas.microsoft.com/office/drawing/2014/main" id="{B3BA79FB-C1AC-8155-9CFF-E532F3B744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845793" y="4078207"/>
            <a:ext cx="3838200" cy="6342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 err="1">
                <a:solidFill>
                  <a:schemeClr val="tx1"/>
                </a:solidFill>
              </a:rPr>
              <a:t>Проект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завершен</a:t>
            </a:r>
            <a:r>
              <a:rPr lang="en-US" dirty="0">
                <a:solidFill>
                  <a:schemeClr val="tx1"/>
                </a:solidFill>
              </a:rPr>
              <a:t> в </a:t>
            </a:r>
            <a:r>
              <a:rPr lang="en-US" dirty="0" err="1">
                <a:solidFill>
                  <a:schemeClr val="tx1"/>
                </a:solidFill>
              </a:rPr>
              <a:t>учебных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рамках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но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имеет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понятную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траекторию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развития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79358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3686400" cy="62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Aptos" panose="020B0004020202020204" pitchFamily="34" charset="0"/>
              </a:rPr>
              <a:t>Вывод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145" name="Google Shape;145;p30"/>
          <p:cNvSpPr txBox="1">
            <a:spLocks noGrp="1"/>
          </p:cNvSpPr>
          <p:nvPr>
            <p:ph type="title" idx="2"/>
          </p:nvPr>
        </p:nvSpPr>
        <p:spPr>
          <a:xfrm>
            <a:off x="1285987" y="1657161"/>
            <a:ext cx="10134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(01)</a:t>
            </a:r>
            <a:endParaRPr/>
          </a:p>
        </p:txBody>
      </p:sp>
      <p:sp>
        <p:nvSpPr>
          <p:cNvPr id="146" name="Google Shape;146;p30"/>
          <p:cNvSpPr txBox="1">
            <a:spLocks noGrp="1"/>
          </p:cNvSpPr>
          <p:nvPr>
            <p:ph type="title" idx="3"/>
          </p:nvPr>
        </p:nvSpPr>
        <p:spPr>
          <a:xfrm>
            <a:off x="1285987" y="3012361"/>
            <a:ext cx="10134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(03)</a:t>
            </a:r>
            <a:endParaRPr/>
          </a:p>
        </p:txBody>
      </p:sp>
      <p:sp>
        <p:nvSpPr>
          <p:cNvPr id="147" name="Google Shape;147;p30"/>
          <p:cNvSpPr txBox="1">
            <a:spLocks noGrp="1"/>
          </p:cNvSpPr>
          <p:nvPr>
            <p:ph type="title" idx="4"/>
          </p:nvPr>
        </p:nvSpPr>
        <p:spPr>
          <a:xfrm>
            <a:off x="1285987" y="2334761"/>
            <a:ext cx="1013400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(02)</a:t>
            </a:r>
            <a:endParaRPr dirty="0"/>
          </a:p>
        </p:txBody>
      </p:sp>
      <p:sp>
        <p:nvSpPr>
          <p:cNvPr id="149" name="Google Shape;149;p30"/>
          <p:cNvSpPr txBox="1">
            <a:spLocks noGrp="1"/>
          </p:cNvSpPr>
          <p:nvPr>
            <p:ph type="subTitle" idx="1"/>
          </p:nvPr>
        </p:nvSpPr>
        <p:spPr>
          <a:xfrm>
            <a:off x="2351210" y="1657174"/>
            <a:ext cx="5298726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SzPct val="100000"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Получен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рабочий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проверяемый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проект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50" name="Google Shape;150;p30"/>
          <p:cNvSpPr txBox="1">
            <a:spLocks noGrp="1"/>
          </p:cNvSpPr>
          <p:nvPr>
            <p:ph type="subTitle" idx="6"/>
          </p:nvPr>
        </p:nvSpPr>
        <p:spPr>
          <a:xfrm>
            <a:off x="2351209" y="2334774"/>
            <a:ext cx="6376412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SzPct val="100000"/>
            </a:pPr>
            <a:r>
              <a:rPr lang="en-US" dirty="0">
                <a:solidFill>
                  <a:schemeClr val="tx1"/>
                </a:solidFill>
              </a:rPr>
              <a:t>Codex </a:t>
            </a:r>
            <a:r>
              <a:rPr lang="ru-RU" dirty="0">
                <a:solidFill>
                  <a:schemeClr val="tx1"/>
                </a:solidFill>
                <a:latin typeface="Aptos" panose="020B0004020202020204" pitchFamily="34" charset="0"/>
              </a:rPr>
              <a:t>интегрирован в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разработку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кода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,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тестов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документации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51" name="Google Shape;151;p30"/>
          <p:cNvSpPr txBox="1">
            <a:spLocks noGrp="1"/>
          </p:cNvSpPr>
          <p:nvPr>
            <p:ph type="subTitle" idx="7"/>
          </p:nvPr>
        </p:nvSpPr>
        <p:spPr>
          <a:xfrm>
            <a:off x="2351209" y="3012374"/>
            <a:ext cx="5780419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SzPct val="100000"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Качество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обеспечено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итерациями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обязательной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</a:rPr>
              <a:t>верификацией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52" name="Google Shape;152;p30"/>
          <p:cNvSpPr txBox="1">
            <a:spLocks noGrp="1"/>
          </p:cNvSpPr>
          <p:nvPr>
            <p:ph type="subTitle" idx="8"/>
          </p:nvPr>
        </p:nvSpPr>
        <p:spPr>
          <a:xfrm>
            <a:off x="604157" y="3983888"/>
            <a:ext cx="7826618" cy="62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400" dirty="0">
                <a:solidFill>
                  <a:schemeClr val="tx1"/>
                </a:solidFill>
              </a:rPr>
              <a:t>Codex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эффективен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при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четкой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постановке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задачи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,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регулярной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проверке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и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дисциплине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обновления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Aptos" panose="020B0004020202020204" pitchFamily="34" charset="0"/>
              </a:rPr>
              <a:t>документации</a:t>
            </a:r>
            <a:r>
              <a:rPr lang="en-US" sz="1400" dirty="0">
                <a:solidFill>
                  <a:schemeClr val="tx1"/>
                </a:solidFill>
                <a:latin typeface="Aptos" panose="020B00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8198F-547C-1B54-C8CC-392CFDCFC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5185" y="1307100"/>
            <a:ext cx="5413629" cy="2529300"/>
          </a:xfrm>
        </p:spPr>
        <p:txBody>
          <a:bodyPr/>
          <a:lstStyle/>
          <a:p>
            <a:r>
              <a:rPr lang="ru-RU" dirty="0">
                <a:latin typeface="Aptos" panose="020B0004020202020204" pitchFamily="34" charset="0"/>
              </a:rPr>
              <a:t>СПАСИБО ЗА ВНИМАНИЕ!</a:t>
            </a:r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6914369"/>
      </p:ext>
    </p:extLst>
  </p:cSld>
  <p:clrMapOvr>
    <a:masterClrMapping/>
  </p:clrMapOvr>
</p:sld>
</file>

<file path=ppt/theme/theme1.xml><?xml version="1.0" encoding="utf-8"?>
<a:theme xmlns:a="http://schemas.openxmlformats.org/drawingml/2006/main" name="Tech Startup by Slidesgo">
  <a:themeElements>
    <a:clrScheme name="Simple Light">
      <a:dk1>
        <a:srgbClr val="FFFFFF"/>
      </a:dk1>
      <a:lt1>
        <a:srgbClr val="091060"/>
      </a:lt1>
      <a:dk2>
        <a:srgbClr val="7247B8"/>
      </a:dk2>
      <a:lt2>
        <a:srgbClr val="0DEEE7"/>
      </a:lt2>
      <a:accent1>
        <a:srgbClr val="01507C"/>
      </a:accent1>
      <a:accent2>
        <a:srgbClr val="15D2C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337</Words>
  <Application>Microsoft Office PowerPoint</Application>
  <PresentationFormat>On-screen Show (16:9)</PresentationFormat>
  <Paragraphs>63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Albert Sans</vt:lpstr>
      <vt:lpstr>Nunito Light</vt:lpstr>
      <vt:lpstr>Wingdings</vt:lpstr>
      <vt:lpstr>Arial</vt:lpstr>
      <vt:lpstr>Syne SemiBold</vt:lpstr>
      <vt:lpstr>Syne Medium</vt:lpstr>
      <vt:lpstr>Syne</vt:lpstr>
      <vt:lpstr>Aptos</vt:lpstr>
      <vt:lpstr>Raleway</vt:lpstr>
      <vt:lpstr>Tech Startup by Slidesgo</vt:lpstr>
      <vt:lpstr>Песочница для шаблонизаторов</vt:lpstr>
      <vt:lpstr>Задача</vt:lpstr>
      <vt:lpstr>Использованные технологии</vt:lpstr>
      <vt:lpstr>Архитектура решения</vt:lpstr>
      <vt:lpstr>Пользовательские сценарии</vt:lpstr>
      <vt:lpstr>Тестирование</vt:lpstr>
      <vt:lpstr>Методика работы с CODEX</vt:lpstr>
      <vt:lpstr>Ограничения и развитие </vt:lpstr>
      <vt:lpstr>Вывод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Коваленко София</cp:lastModifiedBy>
  <cp:revision>21</cp:revision>
  <dcterms:modified xsi:type="dcterms:W3CDTF">2026-05-26T12:05:06Z</dcterms:modified>
</cp:coreProperties>
</file>